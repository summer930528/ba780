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ewsreader"/>
      <p:regular r:id="rId22"/>
      <p:bold r:id="rId23"/>
      <p:italic r:id="rId24"/>
      <p:boldItalic r:id="rId25"/>
    </p:embeddedFont>
    <p:embeddedFont>
      <p:font typeface="DM Sans Light"/>
      <p:regular r:id="rId26"/>
      <p:bold r:id="rId27"/>
      <p:italic r:id="rId28"/>
      <p:boldItalic r:id="rId29"/>
    </p:embeddedFont>
    <p:embeddedFont>
      <p:font typeface="DM Sans SemiBold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  <p:embeddedFont>
      <p:font typeface="Newsreader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SemiBold-italic.fntdata"/><Relationship Id="rId41" Type="http://schemas.openxmlformats.org/officeDocument/2006/relationships/font" Target="fonts/Newsread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bold.fntdata"/><Relationship Id="rId30" Type="http://schemas.openxmlformats.org/officeDocument/2006/relationships/font" Target="fonts/DMSansSemiBold-regular.fntdata"/><Relationship Id="rId33" Type="http://schemas.openxmlformats.org/officeDocument/2006/relationships/font" Target="fonts/DMSansSemiBold-boldItalic.fntdata"/><Relationship Id="rId32" Type="http://schemas.openxmlformats.org/officeDocument/2006/relationships/font" Target="fonts/DMSansSemiBold-italic.fntdata"/><Relationship Id="rId35" Type="http://schemas.openxmlformats.org/officeDocument/2006/relationships/font" Target="fonts/DMSans-bold.fntdata"/><Relationship Id="rId34" Type="http://schemas.openxmlformats.org/officeDocument/2006/relationships/font" Target="fonts/DMSans-regular.fntdata"/><Relationship Id="rId37" Type="http://schemas.openxmlformats.org/officeDocument/2006/relationships/font" Target="fonts/DMSans-boldItalic.fntdata"/><Relationship Id="rId36" Type="http://schemas.openxmlformats.org/officeDocument/2006/relationships/font" Target="fonts/DMSans-italic.fntdata"/><Relationship Id="rId39" Type="http://schemas.openxmlformats.org/officeDocument/2006/relationships/font" Target="fonts/NewsreaderSemiBold-bold.fntdata"/><Relationship Id="rId38" Type="http://schemas.openxmlformats.org/officeDocument/2006/relationships/font" Target="fonts/NewsreaderSemiBold-regular.fntdata"/><Relationship Id="rId20" Type="http://schemas.openxmlformats.org/officeDocument/2006/relationships/slide" Target="slides/slide14.xml"/><Relationship Id="rId22" Type="http://schemas.openxmlformats.org/officeDocument/2006/relationships/font" Target="fonts/Newsreader-regular.fntdata"/><Relationship Id="rId21" Type="http://schemas.openxmlformats.org/officeDocument/2006/relationships/slide" Target="slides/slide15.xml"/><Relationship Id="rId24" Type="http://schemas.openxmlformats.org/officeDocument/2006/relationships/font" Target="fonts/Newsreader-italic.fntdata"/><Relationship Id="rId23" Type="http://schemas.openxmlformats.org/officeDocument/2006/relationships/font" Target="fonts/Newsreader-bold.fntdata"/><Relationship Id="rId26" Type="http://schemas.openxmlformats.org/officeDocument/2006/relationships/font" Target="fonts/DMSansLight-regular.fntdata"/><Relationship Id="rId25" Type="http://schemas.openxmlformats.org/officeDocument/2006/relationships/font" Target="fonts/Newsreader-boldItalic.fntdata"/><Relationship Id="rId28" Type="http://schemas.openxmlformats.org/officeDocument/2006/relationships/font" Target="fonts/DMSansLight-italic.fntdata"/><Relationship Id="rId27" Type="http://schemas.openxmlformats.org/officeDocument/2006/relationships/font" Target="fonts/DMSansLight-bold.fntdata"/><Relationship Id="rId29" Type="http://schemas.openxmlformats.org/officeDocument/2006/relationships/font" Target="fonts/DMSans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h58bd808b4e8f846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h58bd808b4e8f846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2c7fa25c053a6ab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h2c7fa25c053a6ab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2c7fa25c053a6a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h2c7fa25c053a6a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h58bd808b4e8f846a_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h58bd808b4e8f846a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2c7fa25c053a6ab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h2c7fa25c053a6ab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41ed6633d55f782_2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41ed6633d55f782_2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h41ed6633d55f782_2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h41ed6633d55f782_2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h41ed6633d55f782_27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h41ed6633d55f782_27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41ed6633d55f782_27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41ed6633d55f782_27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h41ed6633d55f78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h41ed6633d55f78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h41ed6633d55f782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h41ed6633d55f78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41ed6633d55f78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h41ed6633d55f78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h41ed6633d55f78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h41ed6633d55f78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h1a43f8f63e256e6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h1a43f8f63e256e6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1a43f8f63e256e6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h1a43f8f63e256e6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5989351" y="-8750"/>
            <a:ext cx="3170376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104250" y="287125"/>
            <a:ext cx="5163900" cy="31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D9D9D9"/>
                </a:solidFill>
              </a:rPr>
              <a:t>Do Higher Hospitality Wages mean Better Hotel Guest Satisfaction?</a:t>
            </a:r>
            <a:endParaRPr sz="4500"/>
          </a:p>
        </p:txBody>
      </p:sp>
      <p:sp>
        <p:nvSpPr>
          <p:cNvPr id="515" name="Google Shape;515;p67"/>
          <p:cNvSpPr txBox="1"/>
          <p:nvPr/>
        </p:nvSpPr>
        <p:spPr>
          <a:xfrm>
            <a:off x="713550" y="3980975"/>
            <a:ext cx="47694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6" name="Google Shape;516;p67"/>
          <p:cNvSpPr txBox="1"/>
          <p:nvPr/>
        </p:nvSpPr>
        <p:spPr>
          <a:xfrm>
            <a:off x="192300" y="3446425"/>
            <a:ext cx="49878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Paula Vasques, Anna Zvanskaya, Sharanya Srinivas, Summer Kao, Pushan Parihar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7" name="Google Shape;517;p67" title="Best Hotel Website Designs.jpg"/>
          <p:cNvPicPr preferRelativeResize="0"/>
          <p:nvPr/>
        </p:nvPicPr>
        <p:blipFill rotWithShape="1">
          <a:blip r:embed="rId4">
            <a:alphaModFix/>
          </a:blip>
          <a:srcRect b="0" l="41660" r="13342" t="0"/>
          <a:stretch/>
        </p:blipFill>
        <p:spPr>
          <a:xfrm>
            <a:off x="5689825" y="-6450"/>
            <a:ext cx="34699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68"/>
          <p:cNvSpPr txBox="1"/>
          <p:nvPr/>
        </p:nvSpPr>
        <p:spPr>
          <a:xfrm>
            <a:off x="445782" y="466344"/>
            <a:ext cx="822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1150" spcFirstLastPara="1" rIns="41150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Why We Chose This Topic:</a:t>
            </a:r>
            <a:endParaRPr sz="28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543450" y="1458775"/>
            <a:ext cx="8057100" cy="28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8"/>
          <p:cNvSpPr txBox="1"/>
          <p:nvPr>
            <p:ph type="title"/>
          </p:nvPr>
        </p:nvSpPr>
        <p:spPr>
          <a:xfrm>
            <a:off x="767675" y="2016625"/>
            <a:ext cx="7586100" cy="20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Hotel reviews are one of the</a:t>
            </a:r>
            <a:r>
              <a:rPr b="1" lang="en" sz="2200"/>
              <a:t> </a:t>
            </a:r>
            <a:r>
              <a:rPr lang="en" sz="2200"/>
              <a:t>main criteria for travelers while choosing their stay. If wages</a:t>
            </a:r>
            <a:r>
              <a:rPr b="1" lang="en" sz="2200"/>
              <a:t> </a:t>
            </a:r>
            <a:r>
              <a:rPr lang="en" sz="2200"/>
              <a:t>are related to quality of service, this means that, for the stakeholder, higher wages are an investment.</a:t>
            </a:r>
            <a:endParaRPr sz="22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/>
              <a:t>This research supports stakeholder decision making.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69"/>
          <p:cNvSpPr txBox="1"/>
          <p:nvPr/>
        </p:nvSpPr>
        <p:spPr>
          <a:xfrm>
            <a:off x="260882" y="451719"/>
            <a:ext cx="822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1150" spcFirstLastPara="1" rIns="41150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solidFill>
                  <a:srgbClr val="17324D"/>
                </a:solidFill>
                <a:latin typeface="Newsreader"/>
                <a:ea typeface="Newsreader"/>
                <a:cs typeface="Newsreader"/>
                <a:sym typeface="Newsreader"/>
              </a:rPr>
              <a:t>Research Question and Hypothesis:</a:t>
            </a:r>
            <a:endParaRPr sz="28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2" name="Google Shape;532;p69"/>
          <p:cNvSpPr/>
          <p:nvPr/>
        </p:nvSpPr>
        <p:spPr>
          <a:xfrm>
            <a:off x="260875" y="1458775"/>
            <a:ext cx="4132200" cy="28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9"/>
          <p:cNvSpPr txBox="1"/>
          <p:nvPr/>
        </p:nvSpPr>
        <p:spPr>
          <a:xfrm>
            <a:off x="428270" y="1801504"/>
            <a:ext cx="3797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775" lIns="44675" spcFirstLastPara="1" rIns="44675" wrap="square" tIns="29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17324D"/>
                </a:solidFill>
                <a:latin typeface="Newsreader"/>
                <a:ea typeface="Newsreader"/>
                <a:cs typeface="Newsreader"/>
                <a:sym typeface="Newsreader"/>
              </a:rPr>
              <a:t>Research question:</a:t>
            </a:r>
            <a:endParaRPr sz="22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4" name="Google Shape;534;p69"/>
          <p:cNvSpPr txBox="1"/>
          <p:nvPr/>
        </p:nvSpPr>
        <p:spPr>
          <a:xfrm>
            <a:off x="428270" y="2636710"/>
            <a:ext cx="37974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775" lIns="44675" spcFirstLastPara="1" rIns="44675" wrap="square" tIns="29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Newsreader"/>
                <a:ea typeface="Newsreader"/>
                <a:cs typeface="Newsreader"/>
                <a:sym typeface="Newsreader"/>
              </a:rPr>
              <a:t>Is there a correlation between hospitality employee wages and customer satisfaction?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5" name="Google Shape;535;p69"/>
          <p:cNvSpPr/>
          <p:nvPr/>
        </p:nvSpPr>
        <p:spPr>
          <a:xfrm>
            <a:off x="4728375" y="1458775"/>
            <a:ext cx="4132200" cy="289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69"/>
          <p:cNvSpPr txBox="1"/>
          <p:nvPr/>
        </p:nvSpPr>
        <p:spPr>
          <a:xfrm>
            <a:off x="4895781" y="1801504"/>
            <a:ext cx="3797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775" lIns="44675" spcFirstLastPara="1" rIns="44675" wrap="square" tIns="29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17324D"/>
                </a:solidFill>
                <a:latin typeface="Newsreader"/>
                <a:ea typeface="Newsreader"/>
                <a:cs typeface="Newsreader"/>
                <a:sym typeface="Newsreader"/>
              </a:rPr>
              <a:t>Hypotheses:</a:t>
            </a:r>
            <a:endParaRPr sz="22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7" name="Google Shape;537;p69"/>
          <p:cNvSpPr txBox="1"/>
          <p:nvPr/>
        </p:nvSpPr>
        <p:spPr>
          <a:xfrm>
            <a:off x="4904106" y="2328910"/>
            <a:ext cx="3797400" cy="1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9775" lIns="44675" spcFirstLastPara="1" rIns="44675" wrap="square" tIns="29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000" u="none" cap="none" strike="noStrike">
                <a:solidFill>
                  <a:srgbClr val="243746"/>
                </a:solidFill>
                <a:latin typeface="Newsreader"/>
                <a:ea typeface="Newsreader"/>
                <a:cs typeface="Newsreader"/>
                <a:sym typeface="Newsreader"/>
              </a:rPr>
              <a:t>H₀: no relationship between wages and ratings.</a:t>
            </a:r>
            <a:br>
              <a:rPr i="0" lang="en" sz="2000" u="none" cap="none" strike="noStrike">
                <a:solidFill>
                  <a:srgbClr val="243746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br>
              <a:rPr i="0" lang="en" sz="2000" u="none" cap="none" strike="noStrike">
                <a:solidFill>
                  <a:srgbClr val="243746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i="0" lang="en" sz="2000" u="none" cap="none" strike="noStrike">
                <a:solidFill>
                  <a:srgbClr val="243746"/>
                </a:solidFill>
                <a:latin typeface="Newsreader"/>
                <a:ea typeface="Newsreader"/>
                <a:cs typeface="Newsreader"/>
                <a:sym typeface="Newsreader"/>
              </a:rPr>
              <a:t>H₁: higher hospitality wages are associated with higher ratings.</a:t>
            </a:r>
            <a:endParaRPr sz="2000"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D5CD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0"/>
          <p:cNvSpPr/>
          <p:nvPr/>
        </p:nvSpPr>
        <p:spPr>
          <a:xfrm>
            <a:off x="4670100" y="1214525"/>
            <a:ext cx="4245600" cy="369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0"/>
          <p:cNvSpPr/>
          <p:nvPr/>
        </p:nvSpPr>
        <p:spPr>
          <a:xfrm>
            <a:off x="127850" y="1214675"/>
            <a:ext cx="4398300" cy="369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0"/>
          <p:cNvSpPr txBox="1"/>
          <p:nvPr>
            <p:ph type="title"/>
          </p:nvPr>
        </p:nvSpPr>
        <p:spPr>
          <a:xfrm>
            <a:off x="319950" y="369300"/>
            <a:ext cx="5486700" cy="4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Data Sources &amp; Methodology: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0"/>
          <p:cNvSpPr txBox="1"/>
          <p:nvPr/>
        </p:nvSpPr>
        <p:spPr>
          <a:xfrm>
            <a:off x="291000" y="1564650"/>
            <a:ext cx="40911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Newsreader"/>
                <a:ea typeface="Newsreader"/>
                <a:cs typeface="Newsreader"/>
                <a:sym typeface="Newsreader"/>
              </a:rPr>
              <a:t>Data Sources</a:t>
            </a:r>
            <a:endParaRPr b="1" sz="2000">
              <a:solidFill>
                <a:schemeClr val="dk2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  <a:latin typeface="Newsreader"/>
                <a:ea typeface="Newsreader"/>
                <a:cs typeface="Newsreader"/>
                <a:sym typeface="Newsreader"/>
              </a:rPr>
              <a:t>Hotel reviews: 55,912 reviews from three CSV files</a:t>
            </a:r>
            <a:endParaRPr sz="1600">
              <a:solidFill>
                <a:schemeClr val="dk2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  <a:latin typeface="Newsreader"/>
                <a:ea typeface="Newsreader"/>
                <a:cs typeface="Newsreader"/>
                <a:sym typeface="Newsreader"/>
              </a:rPr>
              <a:t>Wage data: 434,473 wage records from a BLS Excel file</a:t>
            </a:r>
            <a:endParaRPr sz="1600">
              <a:solidFill>
                <a:schemeClr val="dk2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ewsreader"/>
              <a:buChar char="●"/>
            </a:pPr>
            <a:r>
              <a:rPr lang="en" sz="1600">
                <a:solidFill>
                  <a:schemeClr val="dk2"/>
                </a:solidFill>
                <a:latin typeface="Newsreader"/>
                <a:ea typeface="Newsreader"/>
                <a:cs typeface="Newsreader"/>
                <a:sym typeface="Newsreader"/>
              </a:rPr>
              <a:t>Main variables included are: hotel satisfaction ratings (1-5), written reviews, review date, state, and hospitality employee occupation and annual wage</a:t>
            </a:r>
            <a:endParaRPr sz="1600">
              <a:solidFill>
                <a:schemeClr val="dk2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46" name="Google Shape;546;p70"/>
          <p:cNvSpPr txBox="1"/>
          <p:nvPr/>
        </p:nvSpPr>
        <p:spPr>
          <a:xfrm>
            <a:off x="4824600" y="1564650"/>
            <a:ext cx="4091100" cy="30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Methodology</a:t>
            </a:r>
            <a:endParaRPr b="1" sz="2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</a:pPr>
            <a:r>
              <a:rPr lang="en" sz="16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Cleaned 55,698 hotel reviews</a:t>
            </a:r>
            <a:endParaRPr sz="16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</a:pPr>
            <a:r>
              <a:rPr lang="en" sz="16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Merged  reviews by state and year</a:t>
            </a:r>
            <a:endParaRPr sz="16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</a:pPr>
            <a:r>
              <a:rPr lang="en" sz="16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Cleaned 434,473 rows of hospitality employee wage data</a:t>
            </a:r>
            <a:endParaRPr sz="16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</a:pPr>
            <a:r>
              <a:rPr lang="en" sz="16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Used keywords to study the nature of complaints and compared them with wages and ratings</a:t>
            </a:r>
            <a:endParaRPr sz="16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D5CD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1"/>
          <p:cNvSpPr txBox="1"/>
          <p:nvPr>
            <p:ph type="title"/>
          </p:nvPr>
        </p:nvSpPr>
        <p:spPr>
          <a:xfrm>
            <a:off x="884400" y="1928250"/>
            <a:ext cx="7375200" cy="12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To explore this problem and develop an analysis for the core issue, we </a:t>
            </a:r>
            <a:r>
              <a:rPr b="1" lang="en" sz="2800">
                <a:solidFill>
                  <a:schemeClr val="dk2"/>
                </a:solidFill>
              </a:rPr>
              <a:t>asked</a:t>
            </a:r>
            <a:r>
              <a:rPr b="1" lang="en" sz="2800">
                <a:solidFill>
                  <a:schemeClr val="dk2"/>
                </a:solidFill>
              </a:rPr>
              <a:t> questions and answered them with data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2"/>
          <p:cNvSpPr txBox="1"/>
          <p:nvPr/>
        </p:nvSpPr>
        <p:spPr>
          <a:xfrm>
            <a:off x="1493325" y="600225"/>
            <a:ext cx="36702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7" name="Google Shape;557;p72"/>
          <p:cNvSpPr txBox="1"/>
          <p:nvPr/>
        </p:nvSpPr>
        <p:spPr>
          <a:xfrm>
            <a:off x="75300" y="93050"/>
            <a:ext cx="88995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Which U.S. States have the highest average hospitality wages ?</a:t>
            </a:r>
            <a:endParaRPr b="1" sz="2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58" name="Google Shape;558;p72" title="Screenshot 2026-10-19 145839.png"/>
          <p:cNvPicPr preferRelativeResize="0"/>
          <p:nvPr/>
        </p:nvPicPr>
        <p:blipFill rotWithShape="1">
          <a:blip r:embed="rId3">
            <a:alphaModFix/>
          </a:blip>
          <a:srcRect b="1270" l="850" r="-850" t="-1270"/>
          <a:stretch/>
        </p:blipFill>
        <p:spPr>
          <a:xfrm>
            <a:off x="302675" y="1142625"/>
            <a:ext cx="5521262" cy="3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2"/>
          <p:cNvSpPr txBox="1"/>
          <p:nvPr/>
        </p:nvSpPr>
        <p:spPr>
          <a:xfrm>
            <a:off x="5989350" y="1142625"/>
            <a:ext cx="3054900" cy="3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Newsreader"/>
                <a:ea typeface="Newsreader"/>
                <a:cs typeface="Newsreader"/>
                <a:sym typeface="Newsreader"/>
              </a:rPr>
              <a:t>  </a:t>
            </a: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 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Ranked locations by average annual wages across selected hospitality occupations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0" name="Google Shape;560;p72"/>
          <p:cNvSpPr txBox="1"/>
          <p:nvPr/>
        </p:nvSpPr>
        <p:spPr>
          <a:xfrm>
            <a:off x="6075925" y="2739375"/>
            <a:ext cx="29682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D.C. had the highest average wage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The top 10 states in average wages did not differ that much between them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3"/>
          <p:cNvSpPr txBox="1"/>
          <p:nvPr>
            <p:ph idx="1" type="subTitle"/>
          </p:nvPr>
        </p:nvSpPr>
        <p:spPr>
          <a:xfrm>
            <a:off x="364650" y="114925"/>
            <a:ext cx="8414700" cy="6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Newsreader"/>
                <a:ea typeface="Newsreader"/>
                <a:cs typeface="Newsreader"/>
                <a:sym typeface="Newsreader"/>
              </a:rPr>
              <a:t>Which states in the U.S. the hotel ratings are highest and lowest ?</a:t>
            </a:r>
            <a:r>
              <a:rPr b="1" lang="en" sz="2400">
                <a:latin typeface="Newsreader"/>
                <a:ea typeface="Newsreader"/>
                <a:cs typeface="Newsreader"/>
                <a:sym typeface="Newsreader"/>
              </a:rPr>
              <a:t> </a:t>
            </a:r>
            <a:endParaRPr b="1" sz="2400"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66" name="Google Shape;566;p73" title="Screenshot 2026-10-19 1529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5" y="1000100"/>
            <a:ext cx="4503650" cy="401857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3"/>
          <p:cNvSpPr txBox="1"/>
          <p:nvPr/>
        </p:nvSpPr>
        <p:spPr>
          <a:xfrm>
            <a:off x="5580296" y="1066100"/>
            <a:ext cx="33189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 </a:t>
            </a: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Char char="●"/>
            </a:pPr>
            <a:r>
              <a:rPr b="1" lang="en" sz="11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average hotel ratings across 42 states with at least 100 reviews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73"/>
          <p:cNvSpPr txBox="1"/>
          <p:nvPr/>
        </p:nvSpPr>
        <p:spPr>
          <a:xfrm>
            <a:off x="5650475" y="2364350"/>
            <a:ext cx="2957400" cy="26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 </a:t>
            </a: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Highest wages, did not correlate with highest rates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Highest: New Hampshire, Utah and New Jersey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Lowest: South Carolina, Wyoming and Texas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Overall average: 3.78/5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4"/>
          <p:cNvSpPr txBox="1"/>
          <p:nvPr>
            <p:ph idx="1" type="subTitle"/>
          </p:nvPr>
        </p:nvSpPr>
        <p:spPr>
          <a:xfrm>
            <a:off x="609450" y="0"/>
            <a:ext cx="7831200" cy="90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How often categories of complaint appear in reviews with low vs high ratings</a:t>
            </a:r>
            <a:endParaRPr b="1" sz="2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74" name="Google Shape;574;p74"/>
          <p:cNvSpPr txBox="1"/>
          <p:nvPr/>
        </p:nvSpPr>
        <p:spPr>
          <a:xfrm>
            <a:off x="5681173" y="1107775"/>
            <a:ext cx="3181800" cy="1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 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complaint keywords in low-rated and high-rated reviews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75" name="Google Shape;575;p74"/>
          <p:cNvSpPr txBox="1"/>
          <p:nvPr/>
        </p:nvSpPr>
        <p:spPr>
          <a:xfrm>
            <a:off x="5724878" y="2445600"/>
            <a:ext cx="34014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Cleanliness appeared most often in low-rated reviews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Broken/outdated rooms and smell/smoke followed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Complaint keywords appeared in 48.2% of low-rated reviews versus 9.4% of high-rated reviews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76" name="Google Shape;57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50" y="1375550"/>
            <a:ext cx="5376373" cy="300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5"/>
          <p:cNvSpPr txBox="1"/>
          <p:nvPr>
            <p:ph idx="1" type="subTitle"/>
          </p:nvPr>
        </p:nvSpPr>
        <p:spPr>
          <a:xfrm>
            <a:off x="742500" y="369300"/>
            <a:ext cx="7752900" cy="88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Newsreader"/>
                <a:ea typeface="Newsreader"/>
                <a:cs typeface="Newsreader"/>
                <a:sym typeface="Newsreader"/>
              </a:rPr>
              <a:t>How have average hotel customer ratings evolved over </a:t>
            </a:r>
            <a:endParaRPr b="1" sz="2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Newsreader"/>
                <a:ea typeface="Newsreader"/>
                <a:cs typeface="Newsreader"/>
                <a:sym typeface="Newsreader"/>
              </a:rPr>
              <a:t>the years?</a:t>
            </a:r>
            <a:endParaRPr b="1" sz="22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82" name="Google Shape;582;p75"/>
          <p:cNvSpPr txBox="1"/>
          <p:nvPr/>
        </p:nvSpPr>
        <p:spPr>
          <a:xfrm>
            <a:off x="5886950" y="1359225"/>
            <a:ext cx="32439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 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Calculated 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yearly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average ratings using the legacy hotel-review dataset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p75"/>
          <p:cNvSpPr txBox="1"/>
          <p:nvPr/>
        </p:nvSpPr>
        <p:spPr>
          <a:xfrm>
            <a:off x="5880175" y="2797375"/>
            <a:ext cx="32439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Highest average: 3.88 in 2016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Lowest average: 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3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.76 in 2014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Satisfaction remained relatively stable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84" name="Google Shape;584;p75" title="Screenshot (26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75" y="1523700"/>
            <a:ext cx="5575372" cy="318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6"/>
          <p:cNvSpPr txBox="1"/>
          <p:nvPr>
            <p:ph type="title"/>
          </p:nvPr>
        </p:nvSpPr>
        <p:spPr>
          <a:xfrm>
            <a:off x="1414050" y="124200"/>
            <a:ext cx="6222000" cy="49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Higher Pay Did Not Mean Higher Ratings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590" name="Google Shape;590;p76"/>
          <p:cNvSpPr txBox="1"/>
          <p:nvPr/>
        </p:nvSpPr>
        <p:spPr>
          <a:xfrm>
            <a:off x="5489850" y="675200"/>
            <a:ext cx="3613800" cy="4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Ranked the 42 states by a wage index: the average hourly wage of six hotel jobs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average hotel ratings for the 10 highest- and 10 lowest-paying states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Highest-paying states averaged </a:t>
            </a:r>
            <a:r>
              <a:rPr b="1"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3.92</a:t>
            </a: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, lowest-paying </a:t>
            </a:r>
            <a:r>
              <a:rPr b="1"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3.87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Ratings vary far more within each group than between them 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Higher pay alone did not translate into meaningfully better ratings</a:t>
            </a:r>
            <a:endParaRPr sz="1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1" name="Google Shape;591;p76" title="Screenshot (26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75" y="913175"/>
            <a:ext cx="5144741" cy="37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7"/>
          <p:cNvSpPr txBox="1"/>
          <p:nvPr>
            <p:ph type="title"/>
          </p:nvPr>
        </p:nvSpPr>
        <p:spPr>
          <a:xfrm>
            <a:off x="575400" y="369300"/>
            <a:ext cx="7993200" cy="84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Wages Were Not Strongly Linked to Any Review Category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597" name="Google Shape;597;p77" title="Screenshot (25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25" y="1287000"/>
            <a:ext cx="5333356" cy="333595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7"/>
          <p:cNvSpPr txBox="1"/>
          <p:nvPr/>
        </p:nvSpPr>
        <p:spPr>
          <a:xfrm>
            <a:off x="5727300" y="1429700"/>
            <a:ext cx="3416700" cy="3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wages and ratings across four topics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Measured how closely they were related</a:t>
            </a:r>
            <a:endParaRPr b="1" sz="1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Wage and ratings had weak relationships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No topic showed a clearly stronger connection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8"/>
          <p:cNvSpPr txBox="1"/>
          <p:nvPr/>
        </p:nvSpPr>
        <p:spPr>
          <a:xfrm>
            <a:off x="475225" y="144500"/>
            <a:ext cx="7979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Higher Occupation Wages Do Not Consistently Lead to Higher Ratings</a:t>
            </a:r>
            <a:endParaRPr b="1" sz="2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04" name="Google Shape;604;p7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25" y="1279125"/>
            <a:ext cx="4963725" cy="330912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8"/>
          <p:cNvSpPr txBox="1"/>
          <p:nvPr/>
        </p:nvSpPr>
        <p:spPr>
          <a:xfrm>
            <a:off x="5524075" y="1141350"/>
            <a:ext cx="3354600" cy="3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wages and ratings by work area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Calculated their correlation using state-level data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Relationships were weak and inconsistent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Higher wages did not guarantee better ratings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9"/>
          <p:cNvSpPr txBox="1"/>
          <p:nvPr/>
        </p:nvSpPr>
        <p:spPr>
          <a:xfrm>
            <a:off x="629100" y="144500"/>
            <a:ext cx="79797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Hospitality Wage Differs Across Occupation</a:t>
            </a:r>
            <a:endParaRPr b="1" sz="2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11" name="Google Shape;611;p79"/>
          <p:cNvSpPr txBox="1"/>
          <p:nvPr/>
        </p:nvSpPr>
        <p:spPr>
          <a:xfrm>
            <a:off x="836250" y="3478050"/>
            <a:ext cx="36888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average wages and 10th percentile wages on occupations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Filtered lowest paid hospitality wages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12" name="Google Shape;612;p79" title="Screenshot (25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125" y="1066099"/>
            <a:ext cx="5897626" cy="22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79"/>
          <p:cNvSpPr txBox="1"/>
          <p:nvPr/>
        </p:nvSpPr>
        <p:spPr>
          <a:xfrm>
            <a:off x="5004025" y="3387300"/>
            <a:ext cx="39984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Finding:</a:t>
            </a:r>
            <a:endParaRPr b="1" sz="16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Many outliers that affect the mean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ewsreader"/>
              <a:buChar char="●"/>
            </a:pPr>
            <a:r>
              <a:rPr lang="en" sz="15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Restaurant cooks highest paid at $23000 and Waiters lowest paid at $21000</a:t>
            </a:r>
            <a:endParaRPr sz="15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0"/>
          <p:cNvSpPr txBox="1"/>
          <p:nvPr/>
        </p:nvSpPr>
        <p:spPr>
          <a:xfrm>
            <a:off x="555000" y="0"/>
            <a:ext cx="81279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Room Complaints Matter More Than Wages</a:t>
            </a:r>
            <a:endParaRPr b="1" sz="22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19" name="Google Shape;619;p80"/>
          <p:cNvSpPr txBox="1"/>
          <p:nvPr/>
        </p:nvSpPr>
        <p:spPr>
          <a:xfrm>
            <a:off x="187575" y="3702300"/>
            <a:ext cx="4668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Method:</a:t>
            </a:r>
            <a:endParaRPr b="1"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ewsreader"/>
              <a:buChar char="●"/>
            </a:pPr>
            <a:r>
              <a:rPr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Compared wages, hotel ratings, and room complaints across 42 states</a:t>
            </a:r>
            <a:endParaRPr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ewsreader"/>
              <a:buChar char="●"/>
            </a:pPr>
            <a:r>
              <a:rPr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Measured their relationships using correlation</a:t>
            </a:r>
            <a:endParaRPr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20" name="Google Shape;620;p80" title="Screenshot (26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838" y="624313"/>
            <a:ext cx="5966324" cy="29887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80"/>
          <p:cNvSpPr txBox="1"/>
          <p:nvPr/>
        </p:nvSpPr>
        <p:spPr>
          <a:xfrm>
            <a:off x="4663800" y="3627150"/>
            <a:ext cx="4019100" cy="14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Key Findings:</a:t>
            </a:r>
            <a:endParaRPr b="1"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Wage–rating correlation: </a:t>
            </a:r>
            <a:r>
              <a:rPr b="1"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−0.03</a:t>
            </a:r>
            <a:endParaRPr b="1"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Room complaints–rating correlation: </a:t>
            </a:r>
            <a:r>
              <a:rPr b="1"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−0.89</a:t>
            </a:r>
            <a:endParaRPr b="1"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ewsreader"/>
              <a:buChar char="●"/>
            </a:pPr>
            <a:r>
              <a:rPr lang="en" sz="13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Room complaints had a much stronger link to lower ratings than wages</a:t>
            </a:r>
            <a:endParaRPr sz="13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1"/>
          <p:cNvSpPr/>
          <p:nvPr/>
        </p:nvSpPr>
        <p:spPr>
          <a:xfrm>
            <a:off x="361975" y="1511075"/>
            <a:ext cx="8274600" cy="326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775">
            <a:solidFill>
              <a:srgbClr val="DCE6EE"/>
            </a:solidFill>
            <a:prstDash val="solid"/>
            <a:round/>
            <a:headEnd len="sm" w="sm" type="none"/>
            <a:tailEnd len="sm" w="sm" type="none"/>
          </a:ln>
          <a:effectLst>
            <a:outerShdw blurRad="32571" rotWithShape="0" dir="5400000" dist="18728">
              <a:srgbClr val="000000">
                <a:alpha val="34900"/>
              </a:srgbClr>
            </a:outerShdw>
          </a:effectLst>
        </p:spPr>
        <p:txBody>
          <a:bodyPr anchorCtr="0" anchor="ctr" bIns="37200" lIns="74450" spcFirstLastPara="1" rIns="7445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81"/>
          <p:cNvSpPr txBox="1"/>
          <p:nvPr/>
        </p:nvSpPr>
        <p:spPr>
          <a:xfrm>
            <a:off x="753150" y="495300"/>
            <a:ext cx="77316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Conclusion</a:t>
            </a:r>
            <a:endParaRPr b="1" sz="28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Newsreader"/>
              <a:buChar char="●"/>
            </a:pPr>
            <a:r>
              <a:rPr lang="en" sz="23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Higher wages had a weak link to hotel ratings</a:t>
            </a:r>
            <a:endParaRPr sz="23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Newsreader"/>
              <a:buChar char="●"/>
            </a:pPr>
            <a:r>
              <a:rPr lang="en" sz="23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Room complaints had a stronger link to lower ratings.</a:t>
            </a:r>
            <a:endParaRPr sz="23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Newsreader"/>
              <a:buChar char="●"/>
            </a:pPr>
            <a:r>
              <a:rPr lang="en" sz="23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Cleanliness and other room related conditions were key guest concerns.</a:t>
            </a:r>
            <a:endParaRPr sz="23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Newsreader"/>
              <a:buChar char="●"/>
            </a:pPr>
            <a:r>
              <a:rPr lang="en" sz="23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Improving room conditions is one of the ways to improve guest satisfaction.</a:t>
            </a:r>
            <a:endParaRPr sz="23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